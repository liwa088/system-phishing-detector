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DM Serif Display" charset="1" panose="00000000000000000000"/>
      <p:regular r:id="rId16"/>
    </p:embeddedFont>
    <p:embeddedFont>
      <p:font typeface="Open Sauce" charset="1" panose="00000500000000000000"/>
      <p:regular r:id="rId17"/>
    </p:embeddedFont>
    <p:embeddedFont>
      <p:font typeface="Helvetica World Bold" charset="1" panose="020B0800040000020004"/>
      <p:regular r:id="rId18"/>
    </p:embeddedFont>
    <p:embeddedFont>
      <p:font typeface="Helvetica World" charset="1" panose="020B0500040000020004"/>
      <p:regular r:id="rId19"/>
    </p:embeddedFont>
    <p:embeddedFont>
      <p:font typeface="TT Commons Pro Bold" charset="1" panose="020B0103030102020204"/>
      <p:regular r:id="rId20"/>
    </p:embeddedFont>
    <p:embeddedFont>
      <p:font typeface="TT Commons Pro" charset="1" panose="020B0103030102020204"/>
      <p:regular r:id="rId21"/>
    </p:embeddedFont>
    <p:embeddedFont>
      <p:font typeface="Literaturnaya Italics" charset="1" panose="020205030605050904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png" Type="http://schemas.openxmlformats.org/officeDocument/2006/relationships/image"/><Relationship Id="rId12" Target="../media/image15.png" Type="http://schemas.openxmlformats.org/officeDocument/2006/relationships/image"/><Relationship Id="rId2" Target="../media/image3.jpe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531283" y="2489869"/>
            <a:ext cx="10614526" cy="5307263"/>
          </a:xfrm>
          <a:custGeom>
            <a:avLst/>
            <a:gdLst/>
            <a:ahLst/>
            <a:cxnLst/>
            <a:rect r="r" b="b" t="t" l="l"/>
            <a:pathLst>
              <a:path h="5307263" w="10614526">
                <a:moveTo>
                  <a:pt x="0" y="0"/>
                </a:moveTo>
                <a:lnTo>
                  <a:pt x="10614526" y="0"/>
                </a:lnTo>
                <a:lnTo>
                  <a:pt x="10614526" y="5307262"/>
                </a:lnTo>
                <a:lnTo>
                  <a:pt x="0" y="53072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2945833" y="866775"/>
            <a:ext cx="18106907" cy="279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PHISHING</a:t>
            </a:r>
          </a:p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DETECTION PROGRESS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683959" y="5086350"/>
            <a:ext cx="4847324" cy="334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Data Science Project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Instructor: Reda ALHAJJ</a:t>
            </a:r>
          </a:p>
          <a:p>
            <a:pPr algn="ctr">
              <a:lnSpc>
                <a:spcPts val="4480"/>
              </a:lnSpc>
            </a:pP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HAMZA BENMILOUD 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Liwa Belghith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341376" y="292373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168229" y="1494092"/>
            <a:ext cx="13951542" cy="4638888"/>
          </a:xfrm>
          <a:custGeom>
            <a:avLst/>
            <a:gdLst/>
            <a:ahLst/>
            <a:cxnLst/>
            <a:rect r="r" b="b" t="t" l="l"/>
            <a:pathLst>
              <a:path h="4638888" w="13951542">
                <a:moveTo>
                  <a:pt x="0" y="0"/>
                </a:moveTo>
                <a:lnTo>
                  <a:pt x="13951542" y="0"/>
                </a:lnTo>
                <a:lnTo>
                  <a:pt x="13951542" y="4638887"/>
                </a:lnTo>
                <a:lnTo>
                  <a:pt x="0" y="46388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168229" y="6164580"/>
            <a:ext cx="13951542" cy="3819235"/>
          </a:xfrm>
          <a:custGeom>
            <a:avLst/>
            <a:gdLst/>
            <a:ahLst/>
            <a:cxnLst/>
            <a:rect r="r" b="b" t="t" l="l"/>
            <a:pathLst>
              <a:path h="3819235" w="13951542">
                <a:moveTo>
                  <a:pt x="0" y="0"/>
                </a:moveTo>
                <a:lnTo>
                  <a:pt x="13951542" y="0"/>
                </a:lnTo>
                <a:lnTo>
                  <a:pt x="13951542" y="3819235"/>
                </a:lnTo>
                <a:lnTo>
                  <a:pt x="0" y="38192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41376" y="543594"/>
            <a:ext cx="11260933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Dataset Review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341376" y="292373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341376" y="4498158"/>
            <a:ext cx="7707042" cy="793549"/>
          </a:xfrm>
          <a:custGeom>
            <a:avLst/>
            <a:gdLst/>
            <a:ahLst/>
            <a:cxnLst/>
            <a:rect r="r" b="b" t="t" l="l"/>
            <a:pathLst>
              <a:path h="793549" w="7707042">
                <a:moveTo>
                  <a:pt x="0" y="0"/>
                </a:moveTo>
                <a:lnTo>
                  <a:pt x="7707042" y="0"/>
                </a:lnTo>
                <a:lnTo>
                  <a:pt x="7707042" y="793549"/>
                </a:lnTo>
                <a:lnTo>
                  <a:pt x="0" y="7935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41376" y="5291707"/>
            <a:ext cx="4454851" cy="553780"/>
          </a:xfrm>
          <a:custGeom>
            <a:avLst/>
            <a:gdLst/>
            <a:ahLst/>
            <a:cxnLst/>
            <a:rect r="r" b="b" t="t" l="l"/>
            <a:pathLst>
              <a:path h="553780" w="4454851">
                <a:moveTo>
                  <a:pt x="0" y="0"/>
                </a:moveTo>
                <a:lnTo>
                  <a:pt x="4454851" y="0"/>
                </a:lnTo>
                <a:lnTo>
                  <a:pt x="4454851" y="553780"/>
                </a:lnTo>
                <a:lnTo>
                  <a:pt x="0" y="5537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965406" y="0"/>
            <a:ext cx="9322594" cy="10287000"/>
          </a:xfrm>
          <a:custGeom>
            <a:avLst/>
            <a:gdLst/>
            <a:ahLst/>
            <a:cxnLst/>
            <a:rect r="r" b="b" t="t" l="l"/>
            <a:pathLst>
              <a:path h="10287000" w="9322594">
                <a:moveTo>
                  <a:pt x="0" y="0"/>
                </a:moveTo>
                <a:lnTo>
                  <a:pt x="9322594" y="0"/>
                </a:lnTo>
                <a:lnTo>
                  <a:pt x="932259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41376" y="5845487"/>
            <a:ext cx="3853521" cy="472367"/>
          </a:xfrm>
          <a:custGeom>
            <a:avLst/>
            <a:gdLst/>
            <a:ahLst/>
            <a:cxnLst/>
            <a:rect r="r" b="b" t="t" l="l"/>
            <a:pathLst>
              <a:path h="472367" w="3853521">
                <a:moveTo>
                  <a:pt x="0" y="0"/>
                </a:moveTo>
                <a:lnTo>
                  <a:pt x="3853521" y="0"/>
                </a:lnTo>
                <a:lnTo>
                  <a:pt x="3853521" y="472367"/>
                </a:lnTo>
                <a:lnTo>
                  <a:pt x="0" y="4723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41376" y="6317854"/>
            <a:ext cx="3092253" cy="457220"/>
          </a:xfrm>
          <a:custGeom>
            <a:avLst/>
            <a:gdLst/>
            <a:ahLst/>
            <a:cxnLst/>
            <a:rect r="r" b="b" t="t" l="l"/>
            <a:pathLst>
              <a:path h="457220" w="3092253">
                <a:moveTo>
                  <a:pt x="0" y="0"/>
                </a:moveTo>
                <a:lnTo>
                  <a:pt x="3092252" y="0"/>
                </a:lnTo>
                <a:lnTo>
                  <a:pt x="3092252" y="457220"/>
                </a:lnTo>
                <a:lnTo>
                  <a:pt x="0" y="4572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41376" y="6775074"/>
            <a:ext cx="3475375" cy="529123"/>
          </a:xfrm>
          <a:custGeom>
            <a:avLst/>
            <a:gdLst/>
            <a:ahLst/>
            <a:cxnLst/>
            <a:rect r="r" b="b" t="t" l="l"/>
            <a:pathLst>
              <a:path h="529123" w="3475375">
                <a:moveTo>
                  <a:pt x="0" y="0"/>
                </a:moveTo>
                <a:lnTo>
                  <a:pt x="3475375" y="0"/>
                </a:lnTo>
                <a:lnTo>
                  <a:pt x="3475375" y="529123"/>
                </a:lnTo>
                <a:lnTo>
                  <a:pt x="0" y="5291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41376" y="7251324"/>
            <a:ext cx="2891369" cy="378632"/>
          </a:xfrm>
          <a:custGeom>
            <a:avLst/>
            <a:gdLst/>
            <a:ahLst/>
            <a:cxnLst/>
            <a:rect r="r" b="b" t="t" l="l"/>
            <a:pathLst>
              <a:path h="378632" w="2891369">
                <a:moveTo>
                  <a:pt x="0" y="0"/>
                </a:moveTo>
                <a:lnTo>
                  <a:pt x="2891369" y="0"/>
                </a:lnTo>
                <a:lnTo>
                  <a:pt x="2891369" y="378632"/>
                </a:lnTo>
                <a:lnTo>
                  <a:pt x="0" y="3786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41376" y="7580422"/>
            <a:ext cx="5757602" cy="457125"/>
          </a:xfrm>
          <a:custGeom>
            <a:avLst/>
            <a:gdLst/>
            <a:ahLst/>
            <a:cxnLst/>
            <a:rect r="r" b="b" t="t" l="l"/>
            <a:pathLst>
              <a:path h="457125" w="5757602">
                <a:moveTo>
                  <a:pt x="0" y="0"/>
                </a:moveTo>
                <a:lnTo>
                  <a:pt x="5757601" y="0"/>
                </a:lnTo>
                <a:lnTo>
                  <a:pt x="5757601" y="457126"/>
                </a:lnTo>
                <a:lnTo>
                  <a:pt x="0" y="45712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41376" y="8037548"/>
            <a:ext cx="4254143" cy="463323"/>
          </a:xfrm>
          <a:custGeom>
            <a:avLst/>
            <a:gdLst/>
            <a:ahLst/>
            <a:cxnLst/>
            <a:rect r="r" b="b" t="t" l="l"/>
            <a:pathLst>
              <a:path h="463323" w="4254143">
                <a:moveTo>
                  <a:pt x="0" y="0"/>
                </a:moveTo>
                <a:lnTo>
                  <a:pt x="4254143" y="0"/>
                </a:lnTo>
                <a:lnTo>
                  <a:pt x="4254143" y="463322"/>
                </a:lnTo>
                <a:lnTo>
                  <a:pt x="0" y="46332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41376" y="8500870"/>
            <a:ext cx="5945743" cy="1545499"/>
          </a:xfrm>
          <a:custGeom>
            <a:avLst/>
            <a:gdLst/>
            <a:ahLst/>
            <a:cxnLst/>
            <a:rect r="r" b="b" t="t" l="l"/>
            <a:pathLst>
              <a:path h="1545499" w="5945743">
                <a:moveTo>
                  <a:pt x="0" y="0"/>
                </a:moveTo>
                <a:lnTo>
                  <a:pt x="5945742" y="0"/>
                </a:lnTo>
                <a:lnTo>
                  <a:pt x="5945742" y="1545499"/>
                </a:lnTo>
                <a:lnTo>
                  <a:pt x="0" y="154549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41376" y="1407591"/>
            <a:ext cx="8221967" cy="2814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8667" indent="-254334" lvl="1">
              <a:lnSpc>
                <a:spcPts val="3769"/>
              </a:lnSpc>
              <a:buFont typeface="Arial"/>
              <a:buChar char="•"/>
            </a:pPr>
            <a:r>
              <a:rPr lang="en-US" sz="235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Discovering , cleaning and analyzing dataset .</a:t>
            </a:r>
          </a:p>
          <a:p>
            <a:pPr algn="l" marL="508667" indent="-254334" lvl="1">
              <a:lnSpc>
                <a:spcPts val="3769"/>
              </a:lnSpc>
              <a:buFont typeface="Arial"/>
              <a:buChar char="•"/>
            </a:pPr>
            <a:r>
              <a:rPr lang="en-US" sz="2356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Training base model (Decision Tree) on dataset features.</a:t>
            </a:r>
          </a:p>
          <a:p>
            <a:pPr algn="l" marL="508667" indent="-254334" lvl="1">
              <a:lnSpc>
                <a:spcPts val="3769"/>
              </a:lnSpc>
              <a:buFont typeface="Arial"/>
              <a:buChar char="•"/>
            </a:pPr>
            <a:r>
              <a:rPr lang="en-US" sz="2356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Using Advance Models(Random Forest, XGBoost).</a:t>
            </a:r>
          </a:p>
          <a:p>
            <a:pPr algn="l" marL="508667" indent="-254334" lvl="1">
              <a:lnSpc>
                <a:spcPts val="3769"/>
              </a:lnSpc>
              <a:buFont typeface="Arial"/>
              <a:buChar char="•"/>
            </a:pPr>
            <a:r>
              <a:rPr lang="en-US" sz="2356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Analyzing and plotting results .</a:t>
            </a:r>
          </a:p>
          <a:p>
            <a:pPr algn="l" marL="508667" indent="-254334" lvl="1">
              <a:lnSpc>
                <a:spcPts val="3769"/>
              </a:lnSpc>
              <a:buFont typeface="Arial"/>
              <a:buChar char="•"/>
            </a:pPr>
            <a:r>
              <a:rPr lang="en-US" sz="2356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Comparing the Three Results From each Model.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41376" y="543594"/>
            <a:ext cx="11260933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What is already done :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341376" y="292373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341376" y="1312200"/>
            <a:ext cx="10184598" cy="4708780"/>
          </a:xfrm>
          <a:custGeom>
            <a:avLst/>
            <a:gdLst/>
            <a:ahLst/>
            <a:cxnLst/>
            <a:rect r="r" b="b" t="t" l="l"/>
            <a:pathLst>
              <a:path h="4708780" w="10184598">
                <a:moveTo>
                  <a:pt x="0" y="0"/>
                </a:moveTo>
                <a:lnTo>
                  <a:pt x="10184597" y="0"/>
                </a:lnTo>
                <a:lnTo>
                  <a:pt x="10184597" y="4708780"/>
                </a:lnTo>
                <a:lnTo>
                  <a:pt x="0" y="47087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829" r="0" b="-582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719133" y="6020980"/>
            <a:ext cx="11568867" cy="4266020"/>
          </a:xfrm>
          <a:custGeom>
            <a:avLst/>
            <a:gdLst/>
            <a:ahLst/>
            <a:cxnLst/>
            <a:rect r="r" b="b" t="t" l="l"/>
            <a:pathLst>
              <a:path h="4266020" w="11568867">
                <a:moveTo>
                  <a:pt x="0" y="0"/>
                </a:moveTo>
                <a:lnTo>
                  <a:pt x="11568867" y="0"/>
                </a:lnTo>
                <a:lnTo>
                  <a:pt x="11568867" y="4266020"/>
                </a:lnTo>
                <a:lnTo>
                  <a:pt x="0" y="4266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41376" y="543594"/>
            <a:ext cx="11260933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What is already done :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59304" y="708587"/>
            <a:ext cx="8618616" cy="3167341"/>
          </a:xfrm>
          <a:custGeom>
            <a:avLst/>
            <a:gdLst/>
            <a:ahLst/>
            <a:cxnLst/>
            <a:rect r="r" b="b" t="t" l="l"/>
            <a:pathLst>
              <a:path h="3167341" w="8618616">
                <a:moveTo>
                  <a:pt x="0" y="0"/>
                </a:moveTo>
                <a:lnTo>
                  <a:pt x="8618616" y="0"/>
                </a:lnTo>
                <a:lnTo>
                  <a:pt x="8618616" y="3167342"/>
                </a:lnTo>
                <a:lnTo>
                  <a:pt x="0" y="31673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304" y="3875929"/>
            <a:ext cx="8618616" cy="3178115"/>
          </a:xfrm>
          <a:custGeom>
            <a:avLst/>
            <a:gdLst/>
            <a:ahLst/>
            <a:cxnLst/>
            <a:rect r="r" b="b" t="t" l="l"/>
            <a:pathLst>
              <a:path h="3178115" w="8618616">
                <a:moveTo>
                  <a:pt x="0" y="0"/>
                </a:moveTo>
                <a:lnTo>
                  <a:pt x="8618616" y="0"/>
                </a:lnTo>
                <a:lnTo>
                  <a:pt x="8618616" y="3178114"/>
                </a:lnTo>
                <a:lnTo>
                  <a:pt x="0" y="31781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777920" y="708587"/>
            <a:ext cx="9510080" cy="5385083"/>
          </a:xfrm>
          <a:custGeom>
            <a:avLst/>
            <a:gdLst/>
            <a:ahLst/>
            <a:cxnLst/>
            <a:rect r="r" b="b" t="t" l="l"/>
            <a:pathLst>
              <a:path h="5385083" w="9510080">
                <a:moveTo>
                  <a:pt x="0" y="0"/>
                </a:moveTo>
                <a:lnTo>
                  <a:pt x="9510080" y="0"/>
                </a:lnTo>
                <a:lnTo>
                  <a:pt x="9510080" y="5385083"/>
                </a:lnTo>
                <a:lnTo>
                  <a:pt x="0" y="53850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9304" y="7054043"/>
            <a:ext cx="8618616" cy="3167341"/>
          </a:xfrm>
          <a:custGeom>
            <a:avLst/>
            <a:gdLst/>
            <a:ahLst/>
            <a:cxnLst/>
            <a:rect r="r" b="b" t="t" l="l"/>
            <a:pathLst>
              <a:path h="3167341" w="8618616">
                <a:moveTo>
                  <a:pt x="0" y="0"/>
                </a:moveTo>
                <a:lnTo>
                  <a:pt x="8618616" y="0"/>
                </a:lnTo>
                <a:lnTo>
                  <a:pt x="8618616" y="3167341"/>
                </a:lnTo>
                <a:lnTo>
                  <a:pt x="0" y="31673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9304" y="38662"/>
            <a:ext cx="11260933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What is already done 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037333" y="6285955"/>
            <a:ext cx="8967918" cy="3589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4817" indent="-277408" lvl="1">
              <a:lnSpc>
                <a:spcPts val="4111"/>
              </a:lnSpc>
              <a:buFont typeface="Arial"/>
              <a:buChar char="•"/>
            </a:pPr>
            <a:r>
              <a:rPr lang="en-US" sz="256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XGBoost outperformed all other models, achieving the highest accuracy of 97.33% and a superior F1-score compared to the Random Forest and Decision Tree. This demonstrates that gradient boosting offers the most robust generalization for our dataset, minimizing errors more effectively than single-tree or bagging methods.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341376" y="292373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784693" y="2390752"/>
          <a:ext cx="14718614" cy="6524625"/>
        </p:xfrm>
        <a:graphic>
          <a:graphicData uri="http://schemas.openxmlformats.org/drawingml/2006/table">
            <a:tbl>
              <a:tblPr/>
              <a:tblGrid>
                <a:gridCol w="7318298"/>
                <a:gridCol w="7400316"/>
              </a:tblGrid>
              <a:tr h="104432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Challenge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Solution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16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Data Analysis Paralysis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We developed a structured EDA approach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850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 Understanding Model Training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We started with the simplest model and less features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850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Interpreting and Comparing Results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We used a normalized bar chart to compare all models across the four key metrics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850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Model testing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DM Serif Display"/>
                          <a:ea typeface="DM Serif Display"/>
                          <a:cs typeface="DM Serif Display"/>
                          <a:sym typeface="DM Serif Display"/>
                        </a:rPr>
                        <a:t>We need to develop a script first that can extract features from URL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341376" y="543594"/>
            <a:ext cx="11260933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Challenged faced and solutions :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341376" y="292373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341376" y="543594"/>
            <a:ext cx="11260933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Plan and timeline  :</a:t>
            </a:r>
          </a:p>
        </p:txBody>
      </p:sp>
      <p:sp>
        <p:nvSpPr>
          <p:cNvPr name="AutoShape 5" id="5"/>
          <p:cNvSpPr/>
          <p:nvPr/>
        </p:nvSpPr>
        <p:spPr>
          <a:xfrm>
            <a:off x="2697431" y="5431608"/>
            <a:ext cx="12371937" cy="0"/>
          </a:xfrm>
          <a:prstGeom prst="line">
            <a:avLst/>
          </a:prstGeom>
          <a:ln cap="rnd" w="66675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4232322" y="5293649"/>
            <a:ext cx="0" cy="2253433"/>
          </a:xfrm>
          <a:prstGeom prst="line">
            <a:avLst/>
          </a:prstGeom>
          <a:ln cap="rnd" w="66675">
            <a:solidFill>
              <a:srgbClr val="000000"/>
            </a:solidFill>
            <a:prstDash val="sysDot"/>
            <a:headEnd type="none" len="sm" w="sm"/>
            <a:tailEnd type="oval" len="lg" w="lg"/>
          </a:ln>
        </p:spPr>
      </p:sp>
      <p:sp>
        <p:nvSpPr>
          <p:cNvPr name="TextBox 7" id="7"/>
          <p:cNvSpPr txBox="true"/>
          <p:nvPr/>
        </p:nvSpPr>
        <p:spPr>
          <a:xfrm rot="0">
            <a:off x="2697431" y="7701521"/>
            <a:ext cx="3005058" cy="510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1"/>
              </a:lnSpc>
            </a:pPr>
            <a:r>
              <a:rPr lang="en-US" b="true" sz="3132" spc="21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WEEK 9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12439" y="8222444"/>
            <a:ext cx="2775042" cy="1035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8"/>
              </a:lnSpc>
            </a:pPr>
            <a:r>
              <a:rPr lang="en-US" sz="1902" spc="13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Finalize URL-based model &amp; begin email data collection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8915762" y="5293649"/>
            <a:ext cx="0" cy="2253433"/>
          </a:xfrm>
          <a:prstGeom prst="line">
            <a:avLst/>
          </a:prstGeom>
          <a:ln cap="rnd" w="66675">
            <a:solidFill>
              <a:srgbClr val="000000"/>
            </a:solidFill>
            <a:prstDash val="sysDot"/>
            <a:headEnd type="none" len="sm" w="sm"/>
            <a:tailEnd type="oval" len="lg" w="lg"/>
          </a:ln>
        </p:spPr>
      </p:sp>
      <p:sp>
        <p:nvSpPr>
          <p:cNvPr name="TextBox 10" id="10"/>
          <p:cNvSpPr txBox="true"/>
          <p:nvPr/>
        </p:nvSpPr>
        <p:spPr>
          <a:xfrm rot="0">
            <a:off x="7380870" y="7701521"/>
            <a:ext cx="3005058" cy="510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1"/>
              </a:lnSpc>
            </a:pPr>
            <a:r>
              <a:rPr lang="en-US" b="true" sz="3132" spc="21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WEEK 11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495878" y="8222444"/>
            <a:ext cx="2775042" cy="1035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8"/>
              </a:lnSpc>
            </a:pPr>
            <a:r>
              <a:rPr lang="en-US" sz="1902" spc="13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Integrate URL and Email modules into a unified system.</a:t>
            </a:r>
          </a:p>
        </p:txBody>
      </p:sp>
      <p:sp>
        <p:nvSpPr>
          <p:cNvPr name="AutoShape 12" id="12"/>
          <p:cNvSpPr/>
          <p:nvPr/>
        </p:nvSpPr>
        <p:spPr>
          <a:xfrm flipV="true">
            <a:off x="13599201" y="5293649"/>
            <a:ext cx="0" cy="2253433"/>
          </a:xfrm>
          <a:prstGeom prst="line">
            <a:avLst/>
          </a:prstGeom>
          <a:ln cap="rnd" w="66675">
            <a:solidFill>
              <a:srgbClr val="000000"/>
            </a:solidFill>
            <a:prstDash val="sysDot"/>
            <a:headEnd type="none" len="sm" w="sm"/>
            <a:tailEnd type="oval" len="lg" w="lg"/>
          </a:ln>
        </p:spPr>
      </p:sp>
      <p:sp>
        <p:nvSpPr>
          <p:cNvPr name="TextBox 13" id="13"/>
          <p:cNvSpPr txBox="true"/>
          <p:nvPr/>
        </p:nvSpPr>
        <p:spPr>
          <a:xfrm rot="0">
            <a:off x="12064310" y="7701521"/>
            <a:ext cx="3005058" cy="510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1"/>
              </a:lnSpc>
            </a:pPr>
            <a:r>
              <a:rPr lang="en-US" b="true" sz="3132" spc="21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WEEK 13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179318" y="8222444"/>
            <a:ext cx="2775042" cy="1035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8"/>
              </a:lnSpc>
            </a:pPr>
            <a:r>
              <a:rPr lang="en-US" sz="1902" spc="13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Final testing and preparation of final report/presentation.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039151" y="1847699"/>
            <a:ext cx="3005058" cy="510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1"/>
              </a:lnSpc>
            </a:pPr>
            <a:r>
              <a:rPr lang="en-US" b="true" sz="3132" spc="21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WEEK 10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54159" y="2377130"/>
            <a:ext cx="2775042" cy="1035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8"/>
              </a:lnSpc>
            </a:pPr>
            <a:r>
              <a:rPr lang="en-US" sz="1902" spc="13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Develop and train Email Phishing Detection module</a:t>
            </a:r>
          </a:p>
        </p:txBody>
      </p:sp>
      <p:sp>
        <p:nvSpPr>
          <p:cNvPr name="AutoShape 17" id="17"/>
          <p:cNvSpPr/>
          <p:nvPr/>
        </p:nvSpPr>
        <p:spPr>
          <a:xfrm>
            <a:off x="6541680" y="3624811"/>
            <a:ext cx="0" cy="1935226"/>
          </a:xfrm>
          <a:prstGeom prst="line">
            <a:avLst/>
          </a:prstGeom>
          <a:ln cap="rnd" w="66675">
            <a:solidFill>
              <a:srgbClr val="000000"/>
            </a:solidFill>
            <a:prstDash val="sysDot"/>
            <a:headEnd type="none" len="sm" w="sm"/>
            <a:tailEnd type="oval" len="lg" w="lg"/>
          </a:ln>
        </p:spPr>
      </p:sp>
      <p:sp>
        <p:nvSpPr>
          <p:cNvPr name="TextBox 18" id="18"/>
          <p:cNvSpPr txBox="true"/>
          <p:nvPr/>
        </p:nvSpPr>
        <p:spPr>
          <a:xfrm rot="0">
            <a:off x="9722590" y="1847699"/>
            <a:ext cx="3005058" cy="510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1"/>
              </a:lnSpc>
            </a:pPr>
            <a:r>
              <a:rPr lang="en-US" b="true" sz="3132" spc="21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WEEK 12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37598" y="2726640"/>
            <a:ext cx="2775042" cy="686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8"/>
              </a:lnSpc>
            </a:pPr>
            <a:r>
              <a:rPr lang="en-US" sz="1902" spc="13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Build a simple web demo interface.</a:t>
            </a:r>
          </a:p>
        </p:txBody>
      </p:sp>
      <p:sp>
        <p:nvSpPr>
          <p:cNvPr name="AutoShape 20" id="20"/>
          <p:cNvSpPr/>
          <p:nvPr/>
        </p:nvSpPr>
        <p:spPr>
          <a:xfrm>
            <a:off x="11225119" y="3624811"/>
            <a:ext cx="0" cy="1935226"/>
          </a:xfrm>
          <a:prstGeom prst="line">
            <a:avLst/>
          </a:prstGeom>
          <a:ln cap="rnd" w="66675">
            <a:solidFill>
              <a:srgbClr val="000000"/>
            </a:solidFill>
            <a:prstDash val="sysDot"/>
            <a:headEnd type="none" len="sm" w="sm"/>
            <a:tailEnd type="oval" len="lg" w="lg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4143236" y="257175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4289299" y="1028700"/>
            <a:ext cx="0" cy="7577073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4898311" y="1932447"/>
            <a:ext cx="3105190" cy="40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33"/>
              </a:lnSpc>
            </a:pPr>
            <a:r>
              <a:rPr lang="en-US" b="true" sz="2395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Model Training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898311" y="2436510"/>
            <a:ext cx="3697084" cy="1138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60"/>
              </a:lnSpc>
            </a:pPr>
            <a:r>
              <a:rPr lang="en-US" sz="2185" spc="1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Train and optimize machine learning models to classify URLs as phishing or legitimate.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953217" y="990600"/>
            <a:ext cx="3348183" cy="421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86"/>
              </a:lnSpc>
            </a:pPr>
            <a:r>
              <a:rPr lang="en-US" sz="2582" i="true" spc="-129">
                <a:solidFill>
                  <a:srgbClr val="000000"/>
                </a:solidFill>
                <a:latin typeface="Literaturnaya Italics"/>
                <a:ea typeface="Literaturnaya Italics"/>
                <a:cs typeface="Literaturnaya Italics"/>
                <a:sym typeface="Literaturnaya Italics"/>
              </a:rPr>
              <a:t>Liwa Belghith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98311" y="4358474"/>
            <a:ext cx="3105190" cy="40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33"/>
              </a:lnSpc>
            </a:pPr>
            <a:r>
              <a:rPr lang="en-US" b="true" sz="2395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Results Visualization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898311" y="4862537"/>
            <a:ext cx="3749270" cy="1138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60"/>
              </a:lnSpc>
            </a:pPr>
            <a:r>
              <a:rPr lang="en-US" sz="2185" spc="1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Create clear charts and graphs to communicate model performance effectively.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898311" y="3920689"/>
            <a:ext cx="3348183" cy="421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86"/>
              </a:lnSpc>
            </a:pPr>
            <a:r>
              <a:rPr lang="en-US" sz="2582" i="true" spc="-129">
                <a:solidFill>
                  <a:srgbClr val="000000"/>
                </a:solidFill>
                <a:latin typeface="Literaturnaya Italics"/>
                <a:ea typeface="Literaturnaya Italics"/>
                <a:cs typeface="Literaturnaya Italics"/>
                <a:sym typeface="Literaturnaya Italics"/>
              </a:rPr>
              <a:t>Task Two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898311" y="6784501"/>
            <a:ext cx="3105190" cy="40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33"/>
              </a:lnSpc>
            </a:pPr>
            <a:r>
              <a:rPr lang="en-US" b="true" sz="2395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Model Evaluation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898311" y="7288563"/>
            <a:ext cx="3749270" cy="1520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60"/>
              </a:lnSpc>
            </a:pPr>
            <a:r>
              <a:rPr lang="en-US" sz="2185" spc="1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Comparing test trained models using metrics like Precision, Recall, and F1-Score to select the best-performing one.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898311" y="6346716"/>
            <a:ext cx="3348183" cy="421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86"/>
              </a:lnSpc>
            </a:pPr>
            <a:r>
              <a:rPr lang="en-US" sz="2582" i="true" spc="-129">
                <a:solidFill>
                  <a:srgbClr val="000000"/>
                </a:solidFill>
                <a:latin typeface="Literaturnaya Italics"/>
                <a:ea typeface="Literaturnaya Italics"/>
                <a:cs typeface="Literaturnaya Italics"/>
                <a:sym typeface="Literaturnaya Italics"/>
              </a:rPr>
              <a:t>Task Three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103834" y="1028700"/>
            <a:ext cx="383064" cy="38306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33425" lIns="33425" bIns="33425" rIns="33425"/>
            <a:lstStyle/>
            <a:p>
              <a:pPr algn="ctr">
                <a:lnSpc>
                  <a:spcPts val="2604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103834" y="3453140"/>
            <a:ext cx="383064" cy="38306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33425" lIns="33425" bIns="33425" rIns="33425"/>
            <a:lstStyle/>
            <a:p>
              <a:pPr algn="ctr">
                <a:lnSpc>
                  <a:spcPts val="2604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103834" y="5877581"/>
            <a:ext cx="383064" cy="383064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33425" lIns="33425" bIns="33425" rIns="33425"/>
            <a:lstStyle/>
            <a:p>
              <a:pPr algn="ctr">
                <a:lnSpc>
                  <a:spcPts val="2604"/>
                </a:lnSpc>
              </a:pPr>
            </a:p>
          </p:txBody>
        </p:sp>
      </p:grpSp>
      <p:sp>
        <p:nvSpPr>
          <p:cNvPr name="AutoShape 23" id="23"/>
          <p:cNvSpPr/>
          <p:nvPr/>
        </p:nvSpPr>
        <p:spPr>
          <a:xfrm>
            <a:off x="9244458" y="1028700"/>
            <a:ext cx="0" cy="7577073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9908376" y="1867759"/>
            <a:ext cx="3105190" cy="40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33"/>
              </a:lnSpc>
            </a:pPr>
            <a:r>
              <a:rPr lang="en-US" b="true" sz="2395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Data Preprocessing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908376" y="2371821"/>
            <a:ext cx="4623369" cy="1138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60"/>
              </a:lnSpc>
            </a:pPr>
            <a:r>
              <a:rPr lang="en-US" sz="2185" spc="1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Clean the raw dataset by handling missing values, removing duplicates, and formatting data for analysis.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08376" y="990600"/>
            <a:ext cx="3348183" cy="421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86"/>
              </a:lnSpc>
            </a:pPr>
            <a:r>
              <a:rPr lang="en-US" sz="2582" i="true" spc="-129">
                <a:solidFill>
                  <a:srgbClr val="000000"/>
                </a:solidFill>
                <a:latin typeface="Literaturnaya Italics"/>
                <a:ea typeface="Literaturnaya Italics"/>
                <a:cs typeface="Literaturnaya Italics"/>
                <a:sym typeface="Literaturnaya Italics"/>
              </a:rPr>
              <a:t>Hamza Benmiloud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08376" y="4293786"/>
            <a:ext cx="3105190" cy="40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33"/>
              </a:lnSpc>
            </a:pPr>
            <a:r>
              <a:rPr lang="en-US" b="true" sz="2395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Feature Engineering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908376" y="4797848"/>
            <a:ext cx="4415028" cy="1138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60"/>
              </a:lnSpc>
            </a:pPr>
            <a:r>
              <a:rPr lang="en-US" sz="2185" spc="1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Analyze  meaningful features from URLs to improve model detection capabilities.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908376" y="3856001"/>
            <a:ext cx="3348183" cy="853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6"/>
              </a:lnSpc>
            </a:pPr>
            <a:r>
              <a:rPr lang="en-US" sz="2582" i="true" spc="-129">
                <a:solidFill>
                  <a:srgbClr val="000000"/>
                </a:solidFill>
                <a:latin typeface="Literaturnaya Italics"/>
                <a:ea typeface="Literaturnaya Italics"/>
                <a:cs typeface="Literaturnaya Italics"/>
                <a:sym typeface="Literaturnaya Italics"/>
              </a:rPr>
              <a:t>Task Two</a:t>
            </a:r>
          </a:p>
          <a:p>
            <a:pPr algn="l" marL="0" indent="0" lvl="0">
              <a:lnSpc>
                <a:spcPts val="3486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9908376" y="6719813"/>
            <a:ext cx="3811163" cy="40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33"/>
              </a:lnSpc>
            </a:pPr>
            <a:r>
              <a:rPr lang="en-US" b="true" sz="2395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Demo App Development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908376" y="7223875"/>
            <a:ext cx="3604814" cy="1520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60"/>
              </a:lnSpc>
            </a:pPr>
            <a:r>
              <a:rPr lang="en-US" sz="2185" spc="10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Build a user-friendly web application to demonstrate the phishing detection system in action.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908376" y="6282028"/>
            <a:ext cx="3348183" cy="853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6"/>
              </a:lnSpc>
            </a:pPr>
            <a:r>
              <a:rPr lang="en-US" sz="2582" i="true" spc="-129">
                <a:solidFill>
                  <a:srgbClr val="000000"/>
                </a:solidFill>
                <a:latin typeface="Literaturnaya Italics"/>
                <a:ea typeface="Literaturnaya Italics"/>
                <a:cs typeface="Literaturnaya Italics"/>
                <a:sym typeface="Literaturnaya Italics"/>
              </a:rPr>
              <a:t>Task Three</a:t>
            </a:r>
          </a:p>
          <a:p>
            <a:pPr algn="l" marL="0" indent="0" lvl="0">
              <a:lnSpc>
                <a:spcPts val="3486"/>
              </a:lnSpc>
            </a:pPr>
          </a:p>
        </p:txBody>
      </p:sp>
      <p:grpSp>
        <p:nvGrpSpPr>
          <p:cNvPr name="Group 33" id="33"/>
          <p:cNvGrpSpPr/>
          <p:nvPr/>
        </p:nvGrpSpPr>
        <p:grpSpPr>
          <a:xfrm rot="0">
            <a:off x="9058993" y="1028700"/>
            <a:ext cx="383064" cy="383064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33425" lIns="33425" bIns="33425" rIns="33425"/>
            <a:lstStyle/>
            <a:p>
              <a:pPr algn="ctr">
                <a:lnSpc>
                  <a:spcPts val="2604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058993" y="3453140"/>
            <a:ext cx="383064" cy="383064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33425" lIns="33425" bIns="33425" rIns="33425"/>
            <a:lstStyle/>
            <a:p>
              <a:pPr algn="ctr">
                <a:lnSpc>
                  <a:spcPts val="2604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058993" y="5877581"/>
            <a:ext cx="383064" cy="383064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33425" lIns="33425" bIns="33425" rIns="33425"/>
            <a:lstStyle/>
            <a:p>
              <a:pPr algn="ctr">
                <a:lnSpc>
                  <a:spcPts val="2604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4103834" y="8302021"/>
            <a:ext cx="383064" cy="383064"/>
            <a:chOff x="0" y="0"/>
            <a:chExt cx="812800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33425" lIns="33425" bIns="33425" rIns="33425"/>
            <a:lstStyle/>
            <a:p>
              <a:pPr algn="ctr">
                <a:lnSpc>
                  <a:spcPts val="2604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058993" y="8302021"/>
            <a:ext cx="383064" cy="383064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33425" lIns="33425" bIns="33425" rIns="33425"/>
            <a:lstStyle/>
            <a:p>
              <a:pPr algn="ctr">
                <a:lnSpc>
                  <a:spcPts val="2604"/>
                </a:lnSpc>
              </a:pP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4898311" y="1494221"/>
            <a:ext cx="3348183" cy="421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86"/>
              </a:lnSpc>
            </a:pPr>
            <a:r>
              <a:rPr lang="en-US" sz="2582" i="true" spc="-129">
                <a:solidFill>
                  <a:srgbClr val="000000"/>
                </a:solidFill>
                <a:latin typeface="Literaturnaya Italics"/>
                <a:ea typeface="Literaturnaya Italics"/>
                <a:cs typeface="Literaturnaya Italics"/>
                <a:sym typeface="Literaturnaya Italics"/>
              </a:rPr>
              <a:t>Task One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908376" y="1494221"/>
            <a:ext cx="3348183" cy="421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86"/>
              </a:lnSpc>
            </a:pPr>
            <a:r>
              <a:rPr lang="en-US" sz="2582" i="true" spc="-129">
                <a:solidFill>
                  <a:srgbClr val="000000"/>
                </a:solidFill>
                <a:latin typeface="Literaturnaya Italics"/>
                <a:ea typeface="Literaturnaya Italics"/>
                <a:cs typeface="Literaturnaya Italics"/>
                <a:sym typeface="Literaturnaya Italics"/>
              </a:rPr>
              <a:t>Task One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341376" y="292373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341376" y="543594"/>
            <a:ext cx="11260933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Changes from original proposal  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47049" y="1832236"/>
            <a:ext cx="16712251" cy="5888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4997" indent="-352499" lvl="1">
              <a:lnSpc>
                <a:spcPts val="5224"/>
              </a:lnSpc>
              <a:buFont typeface="Arial"/>
              <a:buChar char="•"/>
            </a:pPr>
            <a:r>
              <a:rPr lang="en-US" sz="326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Change: Expanding from URL-only detection to a comprehensive Email Phishing Detection system. </a:t>
            </a:r>
          </a:p>
          <a:p>
            <a:pPr algn="l" marL="704997" indent="-352499" lvl="1">
              <a:lnSpc>
                <a:spcPts val="5224"/>
              </a:lnSpc>
              <a:buFont typeface="Arial"/>
              <a:buChar char="•"/>
            </a:pPr>
            <a:r>
              <a:rPr lang="en-US" sz="326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Phishing attacks are most commonly delivered via email. Detecting malicious intent from the entire email (sender, subject, body text) is a more realistic and valuable security tool.</a:t>
            </a:r>
          </a:p>
          <a:p>
            <a:pPr algn="l" marL="704997" indent="-352499" lvl="1">
              <a:lnSpc>
                <a:spcPts val="5224"/>
              </a:lnSpc>
              <a:buFont typeface="Arial"/>
              <a:buChar char="•"/>
            </a:pPr>
            <a:r>
              <a:rPr lang="en-US" sz="326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This allows us to incorporate Natural Language Processing (NLP), which was initially out-of-scope, adding significant technical complexity and learning.</a:t>
            </a:r>
          </a:p>
          <a:p>
            <a:pPr algn="l" marL="704997" indent="-352499" lvl="1">
              <a:lnSpc>
                <a:spcPts val="5224"/>
              </a:lnSpc>
              <a:buFont typeface="Arial"/>
              <a:buChar char="•"/>
            </a:pPr>
            <a:r>
              <a:rPr lang="en-US" sz="326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Since our core URL model is already performing at a high level, this expansion is a logical and ambitious next step that utilizes our remaining time effectively.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85814" y="2762204"/>
            <a:ext cx="9316373" cy="245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The End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180543" y="5328331"/>
            <a:ext cx="992691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THANK YOU FOR LISTENING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20338" y="7580563"/>
            <a:ext cx="4847324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Liwa Belghith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HAMZA BENMILOUD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DAG5WqJXvB8</dc:identifier>
  <dcterms:modified xsi:type="dcterms:W3CDTF">2011-08-01T06:04:30Z</dcterms:modified>
  <cp:revision>1</cp:revision>
  <dc:title>Copie de WEB PAGE PHISHING DETECTION</dc:title>
</cp:coreProperties>
</file>